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70" r:id="rId21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71" r:id="rId22"/>
    <p:sldId id="268" r:id="rId19"/>
    <p:sldId id="269" r:id="rId20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3.xml"/><Relationship Id="rId22" Type="http://schemas.openxmlformats.org/officeDocument/2006/relationships/slide" Target="slides/slide14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6693407" y="667512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7543800" y="0"/>
            <a:ext cx="4645152" cy="6858000"/>
          </a:xfrm>
          <a:prstGeom prst="rect">
            <a:avLst/>
          </a:prstGeom>
          <a:solidFill>
            <a:srgbClr val="0F28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694944"/>
            <a:ext cx="4983480" cy="3246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65836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2C5AA"/>
                </a:solidFill>
                <a:latin typeface="Aptos"/>
              </a:rPr>
              <a:t>PROYECTO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" y="1124712"/>
            <a:ext cx="56692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Aptos Display"/>
              </a:rPr>
              <a:t>Monitoreo de infraestructura
con Zabbix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761488"/>
            <a:ext cx="53035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CDDCE4"/>
                </a:solidFill>
                <a:latin typeface="Aptos"/>
              </a:rPr>
              <a:t>Zabbix 6.x monitoreando servicios Docker, alertas, backend real, métricas, SLO y pruebas de carga en vivo.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hosts monitoreados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40280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86584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86584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páginas IEEE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822191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68496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96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68496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requests smoke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04104" y="3794760"/>
            <a:ext cx="141732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0408" y="3904488"/>
            <a:ext cx="116128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50408" y="4206240"/>
            <a:ext cx="116128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fallas auditoría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5230368"/>
            <a:ext cx="5715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DDE8EE"/>
                </a:solidFill>
                <a:latin typeface="Aptos"/>
              </a:rPr>
              <a:t>Juan Camilo Ballesteros Sierra
Luis Felipe Murillo Matallana
Juan Sebastián Delgado
Daniela Castro Quiñones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01/17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PROBLEMA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riesgo real es enterarse tarde de una caída.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49377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6975"/>
                </a:solidFill>
                <a:latin typeface="Aptos"/>
              </a:rPr>
              <a:t>La infraestructura evaluada mezcla web, base de datos, DNS y FTP. Si un componente cae, el usuario percibe degradación antes de que el equipo tenga una causa clara.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Falla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servicio cae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914400" y="3904488"/>
            <a:ext cx="1298448" cy="0"/>
          </a:xfrm>
          <a:prstGeom prst="line">
            <a:avLst/>
          </a:prstGeom>
          <a:ln w="27940">
            <a:solidFill>
              <a:srgbClr val="EF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5000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566160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Usuario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7588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reporta tarde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703320" y="3904488"/>
            <a:ext cx="1298448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3892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35507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6480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Operación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480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revisa manual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92240" y="3904488"/>
            <a:ext cx="1298448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927848" y="3621024"/>
            <a:ext cx="877824" cy="0"/>
          </a:xfrm>
          <a:prstGeom prst="line">
            <a:avLst/>
          </a:prstGeom>
          <a:ln w="2540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9143999" y="3246120"/>
            <a:ext cx="157276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7" y="3355848"/>
            <a:ext cx="135331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Histórico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7" y="3602736"/>
            <a:ext cx="13533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 existe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281159" y="3904488"/>
            <a:ext cx="1298448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583680" y="160020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0" y="1600200"/>
            <a:ext cx="73152" cy="12344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80" y="174650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Riesgo operativo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029967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No basta saber que el servidor está encendido; se debe medir servicio, recursos, alertas e histórico.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4160520"/>
            <a:ext cx="4526280" cy="12344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83680" y="4160520"/>
            <a:ext cx="73152" cy="1234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4306824"/>
            <a:ext cx="41422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Criterio de evaluación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4590288"/>
            <a:ext cx="414223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rúbrica pide diseño, proceso de validación y construcción funcional. Por eso la demo debe probar el flujo completo.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02/17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ALTERNATIVAS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se eligió por equilibrio entre control, alertas y despliegue local.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8" y="157276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1907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Nagios Core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90672" y="157276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73552" y="170078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Checks maduros y muchos plugins.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03720" y="157276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170078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UI y dashboards limitados; menor automatización moderna.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53288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267919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Prometheus + Grafana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90672" y="253288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266090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Métricas modernas y visualización fuerte.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253288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266090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Requiere Alertmanager, exporters y más integración.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49300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363931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EF4444"/>
                </a:solidFill>
                <a:latin typeface="Aptos"/>
              </a:rPr>
              <a:t>Datadog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90672" y="349300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73552" y="362102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Suite SaaS completa con APM y logs.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9300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86600" y="362102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Costo, dependencia externa y datos fuera del laboratorio.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453128"/>
            <a:ext cx="214884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" y="4599432"/>
            <a:ext cx="1755648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Zabbix 6.x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90672" y="4453128"/>
            <a:ext cx="3566160" cy="658368"/>
          </a:xfrm>
          <a:prstGeom prst="roundRect">
            <a:avLst/>
          </a:prstGeom>
          <a:solidFill>
            <a:srgbClr val="F5F8FA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73552" y="4581144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Agentes, API, triggers, dashboards, histórico y correo integrados.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453128"/>
            <a:ext cx="4160520" cy="658368"/>
          </a:xfrm>
          <a:prstGeom prst="roundRect">
            <a:avLst/>
          </a:prstGeom>
          <a:solidFill>
            <a:srgbClr val="FAF7F4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4581144"/>
            <a:ext cx="3703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0A1820"/>
                </a:solidFill>
                <a:latin typeface="Aptos"/>
              </a:rPr>
              <a:t>Más configuración inicial, pero reproducible con scripts.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7240" y="5513832"/>
            <a:ext cx="102870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" y="5513832"/>
            <a:ext cx="73152" cy="71323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05840" y="5660136"/>
            <a:ext cx="99029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Decisión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" y="5943600"/>
            <a:ext cx="9902952" cy="2011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permite cumplir el enunciado sin SaaS pago: monitoreo de hosts, servicios, triggers, dashboards, histórico, alertas y API en Docker Compose.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03/17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OBJETIVO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Montamos algo que se puede medir, presionar y recuperar.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828800"/>
            <a:ext cx="73152" cy="18288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Mínimo del enunciado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Zabbix Server, base de datos, frontend, MailHog, cuatro hosts, agentes, templates, triggers y dashboards.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828800"/>
            <a:ext cx="73152" cy="18288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Valor agregado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Portal HTTPS con backend Node.js, MariaDB, gráficas, SLO, exporter /metrics, Artillery y auditoría reproducible.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83879" y="1828800"/>
            <a:ext cx="3337560" cy="18288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828800"/>
            <a:ext cx="73152" cy="182880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1975104"/>
            <a:ext cx="2953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Evidencia defendible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258568"/>
            <a:ext cx="2953512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Repositorio, README, informe IEEE de 7 páginas, PPTX, capturas, scripts y matriz /api/compliance.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754880"/>
            <a:ext cx="2468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Tesis de la sustentación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5102352"/>
            <a:ext cx="93268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0A1820"/>
                </a:solidFill>
                <a:latin typeface="Aptos"/>
              </a:rPr>
              <a:t>La gracia del proyecto está en mostrar operación: salud, carga, incidentes, alertas y recuperación.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04/17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ARQUITECTURA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Zabbix observa servicios Docker.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417320" cy="713232"/>
          </a:xfrm>
          <a:prstGeom prst="roundRect">
            <a:avLst/>
          </a:prstGeom>
          <a:solidFill>
            <a:srgbClr val="EBFDF6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93852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Caddy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18541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HTTPS público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914400" y="245059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743200" y="141732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2928" y="152704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52928" y="177393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frontend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880360" y="2039112"/>
            <a:ext cx="123444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743200" y="2697480"/>
            <a:ext cx="15087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2928" y="2807208"/>
            <a:ext cx="128930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 Server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2928" y="3054096"/>
            <a:ext cx="128930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triggers + API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880360" y="3319272"/>
            <a:ext cx="123444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8006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1032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1032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históricos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937760" y="3319272"/>
            <a:ext cx="1142999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8006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032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032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SMTP lab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37760" y="2039112"/>
            <a:ext cx="114299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731520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24927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web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24927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HTTP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452360" y="2039112"/>
            <a:ext cx="114300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9281160" y="141732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90888" y="152704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390888" y="177393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3306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418320" y="2039112"/>
            <a:ext cx="114300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731520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24927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DNS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24927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53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7452360" y="3319272"/>
            <a:ext cx="114300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281160" y="2697480"/>
            <a:ext cx="141732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390888" y="2807208"/>
            <a:ext cx="119786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FTP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90888" y="3054096"/>
            <a:ext cx="119786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21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9418320" y="3319272"/>
            <a:ext cx="1143000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 flipV="1">
            <a:off x="2194560" y="1773936"/>
            <a:ext cx="548640" cy="4114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4560" y="2185416"/>
            <a:ext cx="548640" cy="86868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4251960" y="3054096"/>
            <a:ext cx="54864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4251960" y="1773936"/>
            <a:ext cx="54864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6217920" y="1773936"/>
            <a:ext cx="1097280" cy="128016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6217920" y="3054096"/>
            <a:ext cx="1097280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7315200" y="3913632"/>
            <a:ext cx="3383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>
                <a:solidFill>
                  <a:srgbClr val="5C6975"/>
                </a:solidFill>
                <a:latin typeface="Aptos"/>
              </a:rPr>
              <a:t>Infraestructura monitoreada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49808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96112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6112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subdominios HTTPS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880360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6664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>
                <a:latin typeface="Aptos"/>
              </a:rPr>
              <a:t>05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26664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contenedores base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5010912" y="4892040"/>
            <a:ext cx="182880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57216" y="5001768"/>
            <a:ext cx="157276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API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157216" y="5303520"/>
            <a:ext cx="15727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aprovisionamiento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05/17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7" name="Rectangle 46"/>
          <p:cNvSpPr/>
          <p:nvPr/>
        </p:nvSpPr>
        <p:spPr>
          <a:xfrm>
            <a:off x="7836408" y="4846320"/>
            <a:ext cx="3118104" cy="10607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INVENTARIO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inventario cubre web, base de datos, DNS y FTP.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9536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Host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28800"/>
            <a:ext cx="19202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27248" y="19476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Servicio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85232" y="1828800"/>
            <a:ext cx="260604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94960" y="1947672"/>
            <a:ext cx="23865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75320" y="1828800"/>
            <a:ext cx="2057400" cy="420624"/>
          </a:xfrm>
          <a:prstGeom prst="rect">
            <a:avLst/>
          </a:prstGeom>
          <a:solidFill>
            <a:srgbClr val="0A18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947672"/>
            <a:ext cx="1837943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FFFFFF"/>
                </a:solidFill>
                <a:latin typeface="Aptos"/>
              </a:rPr>
              <a:t>Agente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9808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6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2C5AA"/>
                </a:solidFill>
                <a:latin typeface="Aptos"/>
              </a:rPr>
              <a:t>web-host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395728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27248" y="2560320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Portal Node.js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85232" y="2395728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94960" y="2560320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HTTP puerto 80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20" y="2395728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85048" y="2560320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web-agent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38BDF8"/>
                </a:solidFill>
                <a:latin typeface="Aptos"/>
              </a:rPr>
              <a:t>db-host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054096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27248" y="3218688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MariaDB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85232" y="3054096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94960" y="3218688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3306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75320" y="3054096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5048" y="3218688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db-agent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A3E635"/>
                </a:solidFill>
                <a:latin typeface="Aptos"/>
              </a:rPr>
              <a:t>dns-host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3712464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27248" y="3877056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CoreDNS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285232" y="3712464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4960" y="3877056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TCP puerto 53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3712464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85048" y="3877056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dns-agent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49808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6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F59E0B"/>
                </a:solidFill>
                <a:latin typeface="Aptos"/>
              </a:rPr>
              <a:t>ftp-host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4370832"/>
            <a:ext cx="19202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27248" y="4535424"/>
            <a:ext cx="17007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VSFTPD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2" y="4370832"/>
            <a:ext cx="260604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94960" y="4535424"/>
            <a:ext cx="238658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 puerto 21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75320" y="4370832"/>
            <a:ext cx="2057400" cy="51206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85048" y="4535424"/>
            <a:ext cx="1837943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0A1820"/>
                </a:solidFill>
                <a:latin typeface="Aptos"/>
              </a:rPr>
              <a:t>ftp-agent</a:t>
            </a:r>
          </a:p>
        </p:txBody>
      </p:sp>
      <p:pic>
        <p:nvPicPr>
          <p:cNvPr id="46" name="Picture 45" descr="02_zabbix_ho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873752"/>
            <a:ext cx="3063240" cy="10058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777240" y="4983480"/>
            <a:ext cx="60807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El inventario se puede defender desde Zabbix y desde Compose: cada host tiene servicio, puerto, agente y trigger asociado.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06/17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IMPLEMENTACIÓN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Todo se puede levantar de nuevo desde el repo.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1783080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01952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docker-compose.yml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46120" y="1911095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topología local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2441448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2560320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docker-compose.vps.yml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46120" y="2569464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publicación VPS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3099815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2688" y="3218687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Dockerfile Zabbix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46120" y="3227832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imagen personalizada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758184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2688" y="3877056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provision_zabbix.py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886200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hosts, items y triggers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" y="4416552"/>
            <a:ext cx="3977639" cy="47548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35424"/>
            <a:ext cx="2377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0A1820"/>
                </a:solidFill>
                <a:latin typeface="Aptos"/>
              </a:rPr>
              <a:t>audit-project.sh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46120" y="4544568"/>
            <a:ext cx="1234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00" b="0">
                <a:solidFill>
                  <a:srgbClr val="5C6975"/>
                </a:solidFill>
                <a:latin typeface="Aptos"/>
              </a:rPr>
              <a:t>validación reproducible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0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96128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Compose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96128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orquesta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623560" y="3383279"/>
            <a:ext cx="822960" cy="0"/>
          </a:xfrm>
          <a:prstGeom prst="line">
            <a:avLst/>
          </a:prstGeom>
          <a:ln w="2794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6583680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967728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077456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77456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aprovisiona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104888" y="3383279"/>
            <a:ext cx="822960" cy="0"/>
          </a:xfrm>
          <a:prstGeom prst="line">
            <a:avLst/>
          </a:prstGeom>
          <a:ln w="27940">
            <a:solidFill>
              <a:srgbClr val="38BDF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065008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8449056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58784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Zabbix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58784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observa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86216" y="3383279"/>
            <a:ext cx="822960" cy="0"/>
          </a:xfrm>
          <a:prstGeom prst="line">
            <a:avLst/>
          </a:prstGeom>
          <a:ln w="27940">
            <a:solidFill>
              <a:srgbClr val="A3E63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9546336" y="3108960"/>
            <a:ext cx="347472" cy="0"/>
          </a:xfrm>
          <a:prstGeom prst="line">
            <a:avLst/>
          </a:prstGeom>
          <a:ln w="1905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9930384" y="2743200"/>
            <a:ext cx="1097280" cy="7315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852928"/>
            <a:ext cx="87782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MailHog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040111" y="3099816"/>
            <a:ext cx="87782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0">
                <a:solidFill>
                  <a:srgbClr val="5C6975"/>
                </a:solidFill>
                <a:latin typeface="Aptos"/>
              </a:rPr>
              <a:t>notifica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067544" y="3383279"/>
            <a:ext cx="822959" cy="0"/>
          </a:xfrm>
          <a:prstGeom prst="line">
            <a:avLst/>
          </a:prstGeom>
          <a:ln w="279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577840" y="4663440"/>
            <a:ext cx="5029200" cy="1005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577840" y="4663440"/>
            <a:ext cx="73152" cy="100584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4809744"/>
            <a:ext cx="46451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Punto fuerte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06440" y="5093207"/>
            <a:ext cx="464515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Cada cosa que se muestra sale de un archivo, un contenedor, un item de Zabbix o una evidencia.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07/17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600200"/>
            <a:ext cx="7690104" cy="4370831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08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El dashboard muestra el pulso del sistema.</a:t>
            </a:r>
          </a:p>
        </p:txBody>
      </p:sp>
      <p:pic>
        <p:nvPicPr>
          <p:cNvPr id="6" name="Picture 5" descr="01_zabbix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27632"/>
            <a:ext cx="7635240" cy="4315968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2520" y="1874519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78824" y="19842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CPU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78824" y="22860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recursos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32520" y="27889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78824" y="28986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78824" y="32004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memoria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732520" y="37033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78824" y="38130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DISCO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78824" y="41148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capacidad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4617720"/>
            <a:ext cx="1691640" cy="713232"/>
          </a:xfrm>
          <a:prstGeom prst="roundRect">
            <a:avLst/>
          </a:prstGeom>
          <a:solidFill>
            <a:srgbClr val="122B36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78824" y="4727448"/>
            <a:ext cx="14356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F59E0B"/>
                </a:solidFill>
                <a:latin typeface="Aptos"/>
              </a:rPr>
              <a:t>HTTP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78824" y="5029200"/>
            <a:ext cx="14356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CAD5DB"/>
                </a:solidFill>
                <a:latin typeface="Aptos"/>
              </a:rPr>
              <a:t>servicios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08/17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572768"/>
            <a:ext cx="6958583" cy="4242816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09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MÉTRICAS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Latest data separa sano de caído.</a:t>
            </a:r>
          </a:p>
        </p:txBody>
      </p:sp>
      <p:pic>
        <p:nvPicPr>
          <p:cNvPr id="6" name="Picture 5" descr="03_zabbix_latest_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600200"/>
            <a:ext cx="6903720" cy="4187952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001000" y="17830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1000" y="1783080"/>
            <a:ext cx="73152" cy="98755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93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Checks básicos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0" y="22128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agent.ping, CPU, memoria y disco para observar salud del host.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01000" y="31546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01000" y="3154680"/>
            <a:ext cx="73152" cy="987552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33009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Checks de servicio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35844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HTTP, MySQL/MariaDB, DNS y FTP validan disponibilidad funcional.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526280"/>
            <a:ext cx="3063240" cy="9875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4526280"/>
            <a:ext cx="73152" cy="987552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672584"/>
            <a:ext cx="26791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Checks avanzados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4956048"/>
            <a:ext cx="2679192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/metrics, /api/db/status y web scenario público conectan Zabbix con la app real.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09/17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7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236207" y="1527048"/>
            <a:ext cx="5038344" cy="330098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10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CAÍDA CONTROLADA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caída controlada prueba el flujo completo.</a:t>
            </a:r>
          </a:p>
        </p:txBody>
      </p:sp>
      <p:pic>
        <p:nvPicPr>
          <p:cNvPr id="6" name="Picture 5" descr="06_zabbix_falla_web_activ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554480"/>
            <a:ext cx="4983480" cy="32461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13232" y="2331720"/>
            <a:ext cx="658368" cy="658368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3504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stop web-service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371600" y="2660904"/>
            <a:ext cx="502919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011680" y="2331720"/>
            <a:ext cx="658368" cy="65836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31136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01952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trigger en Zabbix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670048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10128" y="2331720"/>
            <a:ext cx="658368" cy="658368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9584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correo MailHog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968496" y="2660904"/>
            <a:ext cx="502920" cy="0"/>
          </a:xfrm>
          <a:prstGeom prst="line">
            <a:avLst/>
          </a:prstGeom>
          <a:ln w="2032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608576" y="2331720"/>
            <a:ext cx="658368" cy="658368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28032" y="2505456"/>
            <a:ext cx="228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98848" y="3163824"/>
            <a:ext cx="914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0A1820"/>
                </a:solidFill>
                <a:latin typeface="Aptos"/>
              </a:rPr>
              <a:t>start + recovery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5074920"/>
            <a:ext cx="516636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0A1820"/>
                </a:solidFill>
                <a:latin typeface="Aptos"/>
              </a:rPr>
              <a:t>El valor de esta prueba está en el flujo completo: no solo aparece el problema, también queda histórico y evidencia de recuperación.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10/17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" name="Rectangle 6"/>
          <p:cNvSpPr/>
          <p:nvPr/>
        </p:nvSpPr>
        <p:spPr>
          <a:xfrm>
            <a:off x="630936" y="1453896"/>
            <a:ext cx="7918704" cy="4498848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ALERTAS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MailHog captura alertas.</a:t>
            </a:r>
          </a:p>
        </p:txBody>
      </p:sp>
      <p:pic>
        <p:nvPicPr>
          <p:cNvPr id="6" name="Picture 5" descr="07_mailhog_falla_we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481328"/>
            <a:ext cx="7863840" cy="4443984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915400" y="169164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15400" y="1691640"/>
            <a:ext cx="73152" cy="10789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83794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Laboratorio seguro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0" y="212140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Captura correos sin enviar spam a cuentas reales durante las pruebas.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15400" y="3154680"/>
            <a:ext cx="2423160" cy="1078992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15400" y="3154680"/>
            <a:ext cx="73152" cy="10789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0" y="3300984"/>
            <a:ext cx="20391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Escalamiento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3584448"/>
            <a:ext cx="2039112" cy="5669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DFE8EE"/>
                </a:solidFill>
                <a:latin typeface="Aptos"/>
              </a:rPr>
              <a:t>Queda documentado un canal SMTP real del dominio para producción.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11/17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CARGA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Artillery mete presión real a la demo.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21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22C5AA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468880"/>
            <a:ext cx="960120" cy="2606039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96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requests smoke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4873752"/>
            <a:ext cx="960120" cy="201168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603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usuarios fallidos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3943350"/>
            <a:ext cx="960120" cy="113156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5285232"/>
            <a:ext cx="960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>
                <a:solidFill>
                  <a:srgbClr val="0A1820"/>
                </a:solidFill>
                <a:latin typeface="Aptos"/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5641848"/>
            <a:ext cx="1325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30" b="1">
                <a:solidFill>
                  <a:srgbClr val="5C6975"/>
                </a:solidFill>
                <a:latin typeface="Aptos"/>
              </a:rPr>
              <a:t>p95 aprox. 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828800"/>
            <a:ext cx="4389120" cy="13716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37960" y="1828800"/>
            <a:ext cx="73152" cy="13716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0" y="197510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demuestra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2258568"/>
            <a:ext cx="4005072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La app no solo responde: guarda telemetría, registra incidentes y expone métricas para Zabbix.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749039"/>
            <a:ext cx="4389120" cy="11430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37960" y="3749039"/>
            <a:ext cx="73152" cy="114300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766560" y="3895344"/>
            <a:ext cx="4005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Cómo se ve en vivo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178807"/>
            <a:ext cx="4005072" cy="630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Mientras corre Artillery suben requests, rutas golpeadas, cargas recientes y SLO en el portal.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12/17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Rectangle 15"/>
          <p:cNvSpPr/>
          <p:nvPr/>
        </p:nvSpPr>
        <p:spPr>
          <a:xfrm>
            <a:off x="7470648" y="1572768"/>
            <a:ext cx="3666744" cy="252374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13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RESULTADOS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El cierre se defiende con métricas y auditoría.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100%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/api/compliance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1810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38BDF8"/>
                </a:solidFill>
                <a:latin typeface="Aptos"/>
              </a:rPr>
              <a:t>27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1810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validaciones OK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66360" y="1874519"/>
            <a:ext cx="19202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12664" y="1984248"/>
            <a:ext cx="1664208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A3E635"/>
                </a:solidFill>
                <a:latin typeface="Aptos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12664" y="2286000"/>
            <a:ext cx="1664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80" b="1">
                <a:solidFill>
                  <a:srgbClr val="5C6975"/>
                </a:solidFill>
                <a:latin typeface="Aptos"/>
              </a:rPr>
              <a:t>fallas auditoría</a:t>
            </a:r>
          </a:p>
        </p:txBody>
      </p:sp>
      <p:pic>
        <p:nvPicPr>
          <p:cNvPr id="15" name="Picture 14" descr="04_zabbix_proble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600200"/>
            <a:ext cx="3611880" cy="246888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>
          <a:xfrm>
            <a:off x="82296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Dashboard en tiempo real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49040" y="373075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23360" y="371246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Simulación de caída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Alertas en MailHog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749040" y="423367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023360" y="421538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Métricas históricas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728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Carga Artillery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736592"/>
            <a:ext cx="164592" cy="164592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23360" y="4718304"/>
            <a:ext cx="2377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0A1820"/>
                </a:solidFill>
                <a:latin typeface="Aptos"/>
              </a:rPr>
              <a:t>Informe IEEE + repo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13/17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14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DISCUSIÓN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La prueba importante no es instalar Zabbix; es cerrar el ciclo operativo.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737360"/>
            <a:ext cx="73152" cy="1298448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Qué probamos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Carga real con Artillery, caída controlada, detección en Zabbix, correo MailHog, recuperación y métricas históricas.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737360"/>
            <a:ext cx="73152" cy="1298448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Qué aprendimos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Monitorear no es solo saber si un contenedor vive: también hay que medir servicio, backend, DB, SLO y rutas bajo presión.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2440" y="1737360"/>
            <a:ext cx="3246120" cy="129844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92440" y="1737360"/>
            <a:ext cx="73152" cy="12984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883664"/>
            <a:ext cx="28620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Limitación honesta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167128"/>
            <a:ext cx="2862072" cy="7863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El SLO del portal es de laboratorio y vive en memoria del proceso; Zabbix conserva el histórico real de eventos e items.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822191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5C6975"/>
                </a:solidFill>
                <a:latin typeface="Aptos"/>
              </a:rPr>
              <a:t>Conclusión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224528"/>
            <a:ext cx="98755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>
                <a:solidFill>
                  <a:srgbClr val="0A1820"/>
                </a:solidFill>
                <a:latin typeface="Aptos"/>
              </a:rPr>
              <a:t>El proyecto cumple los requisitos base y los amplía con una aplicación real observable: frontend, backend, MariaDB, /metrics, SLO, analíticas, Artillery y matriz 13/13.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14/17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15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0A18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0A1820"/>
                </a:solidFill>
                <a:latin typeface="Aptos"/>
              </a:rPr>
              <a:t>ENTREGABLES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0A1820"/>
                </a:solidFill>
                <a:latin typeface="Aptos Display"/>
              </a:rPr>
              <a:t>Queda repo, informe, deck y demo pública.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1874519"/>
            <a:ext cx="73152" cy="960120"/>
          </a:xfrm>
          <a:prstGeom prst="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22C5AA"/>
                </a:solidFill>
                <a:latin typeface="Aptos"/>
              </a:rPr>
              <a:t>Informe IEEE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entrega-final/Informe_IEEE_Proyecto7_Zabbix.pdf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59" y="187451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52159" y="1874519"/>
            <a:ext cx="73152" cy="96012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59" y="202082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38BDF8"/>
                </a:solidFill>
                <a:latin typeface="Aptos"/>
              </a:rPr>
              <a:t>Diapositivas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59" y="230428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entrega-final/Presentacion_Proyecto7_Zabbix.pptx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7240" y="3291839"/>
            <a:ext cx="73152" cy="960120"/>
          </a:xfrm>
          <a:prstGeom prst="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A3E635"/>
                </a:solidFill>
                <a:latin typeface="Aptos"/>
              </a:rPr>
              <a:t>Repositorio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github.com/ballesterossmartsolutionssas/Proyecto7-Zabbix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852159" y="3291839"/>
            <a:ext cx="4343400" cy="9601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52159" y="3291839"/>
            <a:ext cx="73152" cy="9601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59" y="3438144"/>
            <a:ext cx="39593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59E0B"/>
                </a:solidFill>
                <a:latin typeface="Aptos"/>
              </a:rPr>
              <a:t>Evidencias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59" y="3721607"/>
            <a:ext cx="3959352" cy="4480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0A1820"/>
                </a:solidFill>
                <a:latin typeface="Aptos"/>
              </a:rPr>
              <a:t>entrega-final/evidencias + auditoría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349240"/>
            <a:ext cx="978408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0A1820"/>
                </a:solidFill>
                <a:latin typeface="Aptos"/>
              </a:rPr>
              <a:t>Reparto: Luis Felipe abre, Juan Sebastián explica arquitectura, Daniela muestra Zabbix y Juan Camilo cierra con pruebas en vivo.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BFCC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C6975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5C6975"/>
                </a:solidFill>
                <a:latin typeface="Aptos"/>
              </a:rPr>
              <a:t>15/17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Rectangle 22"/>
          <p:cNvSpPr/>
          <p:nvPr/>
        </p:nvSpPr>
        <p:spPr>
          <a:xfrm>
            <a:off x="7744968" y="4041648"/>
            <a:ext cx="3392424" cy="1517904"/>
          </a:xfrm>
          <a:prstGeom prst="rect">
            <a:avLst/>
          </a:prstGeom>
          <a:solidFill>
            <a:srgbClr val="FFFFFF"/>
          </a:solidFill>
          <a:ln w="10160">
            <a:solidFill>
              <a:srgbClr val="BFC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16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DEMO EN VIVO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 demo debe cerrar viendo tráfico, caída y alerta.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74519"/>
            <a:ext cx="438912" cy="438912"/>
          </a:xfrm>
          <a:prstGeom prst="roundRect">
            <a:avLst/>
          </a:prstGeom>
          <a:solidFill>
            <a:srgbClr val="22C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98424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1911095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Abrir portal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6120" y="193852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https://web-zabbix.negociocontigo.com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743200"/>
            <a:ext cx="438912" cy="43891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85292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277977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Generar carga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46120" y="280720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artillery run tests/artillery-live-demo.yml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611879"/>
            <a:ext cx="438912" cy="43891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32688" y="3721607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64845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Simular caída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46120" y="3675887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docker compose -f docker-compose.vps.yml stop web-service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480559"/>
            <a:ext cx="438912" cy="438912"/>
          </a:xfrm>
          <a:prstGeom prst="roundRect">
            <a:avLst/>
          </a:prstGeom>
          <a:solidFill>
            <a:srgbClr val="A3E6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90288"/>
            <a:ext cx="11887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1">
                <a:solidFill>
                  <a:srgbClr val="0A1820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4517136"/>
            <a:ext cx="1920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ptos"/>
              </a:rPr>
              <a:t>Validar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46120" y="4544568"/>
            <a:ext cx="6766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C8D8E1"/>
                </a:solidFill>
                <a:latin typeface="Aptos"/>
              </a:rPr>
              <a:t>bash scripts/audit-project.sh</a:t>
            </a:r>
          </a:p>
        </p:txBody>
      </p:sp>
      <p:pic>
        <p:nvPicPr>
          <p:cNvPr id="22" name="Picture 21" descr="05_mailhog_aler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0" y="4069080"/>
            <a:ext cx="3337560" cy="146304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2960" y="5715000"/>
            <a:ext cx="6583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2C5AA"/>
                </a:solidFill>
                <a:latin typeface="Aptos"/>
              </a:rPr>
              <a:t>Cierre: Zabbix detecta, MailHog muestra, Artillery presiona y la auditoría confirma.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16/17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18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8404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17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941832" y="475488"/>
            <a:ext cx="685800" cy="0"/>
          </a:xfrm>
          <a:prstGeom prst="line">
            <a:avLst/>
          </a:prstGeom>
          <a:ln w="13970">
            <a:solidFill>
              <a:srgbClr val="22C5A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737360" y="356616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>
                <a:solidFill>
                  <a:srgbClr val="22C5AA"/>
                </a:solidFill>
                <a:latin typeface="Aptos"/>
              </a:rPr>
              <a:t>REFERENCIAS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713232"/>
            <a:ext cx="7498079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ptos Display"/>
              </a:rPr>
              <a:t>Las decisiones se apoyan en documentación oficial y herramientas reproducibles.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Zabbix Documentation 6.0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zabbix.com/documentation/6.0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80760" y="1691640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19656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Docker Compose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208483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docs.docker.com/compose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F59E0B"/>
                </a:solidFill>
                <a:latin typeface="Aptos"/>
              </a:rPr>
              <a:t>MailHog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github.com/mailhog/MailHog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770632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2898648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A3E635"/>
                </a:solidFill>
                <a:latin typeface="Aptos"/>
              </a:rPr>
              <a:t>Artillery Docs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316382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artillery.io/docs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38BDF8"/>
                </a:solidFill>
                <a:latin typeface="Aptos"/>
              </a:rPr>
              <a:t>PostgreSQL / MariaDB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postgresql.org/docs + mariadb.org/documentation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3849624"/>
            <a:ext cx="4617720" cy="694944"/>
          </a:xfrm>
          <a:prstGeom prst="roundRect">
            <a:avLst/>
          </a:prstGeom>
          <a:solidFill>
            <a:srgbClr val="102833"/>
          </a:solidFill>
          <a:ln w="10160">
            <a:solidFill>
              <a:srgbClr val="304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977639"/>
            <a:ext cx="28346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>
                <a:solidFill>
                  <a:srgbClr val="22C5AA"/>
                </a:solidFill>
                <a:latin typeface="Aptos"/>
              </a:rPr>
              <a:t>Caddy Automatic HTTPS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4281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CAD5DB"/>
                </a:solidFill>
                <a:latin typeface="Aptos"/>
              </a:rPr>
              <a:t>caddyserver.com/docs/automatic-https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5321808"/>
            <a:ext cx="9966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Entregables: informe IEEE, presentación, repositorio GitHub, README, scripts de aprovisionamiento, Docker Compose, evidencias y demo pública HTTPS.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428232"/>
            <a:ext cx="11155680" cy="0"/>
          </a:xfrm>
          <a:prstGeom prst="line">
            <a:avLst/>
          </a:prstGeom>
          <a:ln w="8890">
            <a:solidFill>
              <a:srgbClr val="2A42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519672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8E9FAA"/>
                </a:solidFill>
                <a:latin typeface="Aptos"/>
              </a:rPr>
              <a:t>Proyecto 7 - Monitoreo de infraestructura con Zabbix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51967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750" b="0">
                <a:solidFill>
                  <a:srgbClr val="8E9FAA"/>
                </a:solidFill>
                <a:latin typeface="Aptos"/>
              </a:rPr>
              <a:t>17/17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