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6693407" y="667512"/>
            <a:ext cx="5038344" cy="330098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7543800" y="0"/>
            <a:ext cx="4645152" cy="6858000"/>
          </a:xfrm>
          <a:prstGeom prst="rect">
            <a:avLst/>
          </a:prstGeom>
          <a:solidFill>
            <a:srgbClr val="0F2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694944"/>
            <a:ext cx="4983480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5836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2C5AA"/>
                </a:solidFill>
                <a:latin typeface="Aptos"/>
              </a:rPr>
              <a:t>PROYECTO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24712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 Display"/>
              </a:rPr>
              <a:t>Monitoreo de infraestructura
con Zabbix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76148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DDCE4"/>
                </a:solidFill>
                <a:latin typeface="Aptos"/>
              </a:rPr>
              <a:t>Zabbix 6.x monitoreando servicios Docker, alertas, backend real, métricas, SLO y pruebas de carga en vivo.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hosts monitoreados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6584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6584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páginas IEEE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8496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8496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requests smoke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04104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8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0408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fallas auditoría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DDE8EE"/>
                </a:solidFill>
                <a:latin typeface="Aptos"/>
              </a:rPr>
              <a:t>Juan Camilo Ballesteros Sierra
Luis Felipe Murillo Matallana
Juan Sebastián Delgado
Daniela Castro Quiñones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01/17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riesgo real es enterarse tarde de una caída.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9164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6975"/>
                </a:solidFill>
                <a:latin typeface="Aptos"/>
              </a:rPr>
              <a:t>La infraestructura evaluada mezcla web, base de datos, DNS y FTP. Si un componente cae, el usuario percibe degradación antes de que el equipo tenga una causa clara.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Falla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servicio cae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3904488"/>
            <a:ext cx="1298448" cy="0"/>
          </a:xfrm>
          <a:prstGeom prst="line">
            <a:avLst/>
          </a:prstGeom>
          <a:ln w="27940">
            <a:solidFill>
              <a:srgbClr val="EF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5000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66160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Usuario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reporta tarde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03320" y="3904488"/>
            <a:ext cx="1298448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3892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55079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Operación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revisa manual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3904488"/>
            <a:ext cx="1298448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92784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43999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Histórico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no existe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1159" y="3904488"/>
            <a:ext cx="1298448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583680" y="1600200"/>
            <a:ext cx="4526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1600200"/>
            <a:ext cx="73152" cy="123444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1746504"/>
            <a:ext cx="4142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Riesgo operativo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029967"/>
            <a:ext cx="414223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No basta saber que el servidor está encendido; se debe medir servicio, recursos, alertas e histórico.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160520"/>
            <a:ext cx="4526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0" y="4160520"/>
            <a:ext cx="73152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4306824"/>
            <a:ext cx="4142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Criterio de evaluación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4590288"/>
            <a:ext cx="414223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La rúbrica pide diseño, proceso de validación y construcción funcional. Por eso la demo debe probar el flujo completo.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Montamos algo que se puede medir, presionar y recuperar.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73152" cy="182880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Mínimo del enunciado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Zabbix Server, base de datos, frontend, MailHog, cuatro hosts, agentes, templates, triggers y dashboards.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828800"/>
            <a:ext cx="73152" cy="1828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Valor agregado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Portal HTTPS con backend Node.js, MariaDB, gráficas, SLO, exporter /metrics, Artillery y auditoría reproducible.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828800"/>
            <a:ext cx="73152" cy="182880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Evidencia defendible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Repositorio, README, informe IEEE de 7 páginas, PPTX, capturas, scripts y matriz /api/compliance.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548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6975"/>
                </a:solidFill>
                <a:latin typeface="Aptos"/>
              </a:rPr>
              <a:t>Tesis de la sustentación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102352"/>
            <a:ext cx="9326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A1820"/>
                </a:solidFill>
                <a:latin typeface="Aptos"/>
              </a:rPr>
              <a:t>La gracia del proyecto está en mostrar operación: salud, carga, incidentes, alertas y recuperación.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Zabbix observa servicios Docker.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417320" cy="713232"/>
          </a:xfrm>
          <a:prstGeom prst="round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3852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Caddy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8541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HTTPS público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2450592"/>
            <a:ext cx="114300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43200" y="1417320"/>
            <a:ext cx="15087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2928" y="1527048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1773936"/>
            <a:ext cx="1289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frontend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0360" y="2039112"/>
            <a:ext cx="123444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43200" y="2697480"/>
            <a:ext cx="15087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2928" y="2807208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054096"/>
            <a:ext cx="1289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triggers + API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80360" y="3319272"/>
            <a:ext cx="123444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80060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0328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históricos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937760" y="3319272"/>
            <a:ext cx="1142999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80060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0328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0328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SMTP lab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37760" y="2039112"/>
            <a:ext cx="114299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1520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7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7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HTTP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52360" y="2039112"/>
            <a:ext cx="114300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28116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90888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90888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3306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18320" y="2039112"/>
            <a:ext cx="114300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31520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24927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4927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53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452360" y="3319272"/>
            <a:ext cx="114300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28116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90888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FTP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90888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21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418320" y="3319272"/>
            <a:ext cx="1143000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94560" y="1773936"/>
            <a:ext cx="548640" cy="41148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194560" y="2185416"/>
            <a:ext cx="548640" cy="86868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251960" y="3054096"/>
            <a:ext cx="548640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251960" y="1773936"/>
            <a:ext cx="548640" cy="128016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17920" y="1773936"/>
            <a:ext cx="1097280" cy="128016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217920" y="3054096"/>
            <a:ext cx="1097280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15200" y="391363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5C6975"/>
                </a:solidFill>
                <a:latin typeface="Aptos"/>
              </a:rPr>
              <a:t>Infraestructura monitoreada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9808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6112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subdominios HTTPS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80360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6664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26664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contenedores base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10912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57216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API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57216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aprovisionamiento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Rectangle 46"/>
          <p:cNvSpPr/>
          <p:nvPr/>
        </p:nvSpPr>
        <p:spPr>
          <a:xfrm>
            <a:off x="7836408" y="4846320"/>
            <a:ext cx="3118104" cy="106070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INVENTARIO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inventario cubre web, base de datos, DNS y FTP.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828800"/>
            <a:ext cx="19202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476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828800"/>
            <a:ext cx="19202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7248" y="19476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Servicio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85232" y="1828800"/>
            <a:ext cx="26060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0" y="1947672"/>
            <a:ext cx="23865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205740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947672"/>
            <a:ext cx="183794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Agente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395728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256032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2C5AA"/>
                </a:solidFill>
                <a:latin typeface="Aptos"/>
              </a:rPr>
              <a:t>web-host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395728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27248" y="256032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Portal Node.js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85232" y="2395728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2560320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HTTP puerto 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2395728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2560320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web-agent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054096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218688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ptos"/>
              </a:rPr>
              <a:t>db-host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054096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27248" y="3218688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MariaDB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85232" y="3054096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0" y="3218688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TCP puerto 3306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3054096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3218688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db-agent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3712464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3877056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3E635"/>
                </a:solidFill>
                <a:latin typeface="Aptos"/>
              </a:rPr>
              <a:t>dns-host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712464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27248" y="3877056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CoreDNS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85232" y="3712464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0" y="3877056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TCP puerto 53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3712464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85048" y="3877056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dns-agent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" y="4370832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4535424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59E0B"/>
                </a:solidFill>
                <a:latin typeface="Aptos"/>
              </a:rPr>
              <a:t>ftp-host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370832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7248" y="4535424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VSFTPD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2" y="4370832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0" y="4535424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FTP puerto 21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4370832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85048" y="4535424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ftp-agent</a:t>
            </a:r>
          </a:p>
        </p:txBody>
      </p:sp>
      <p:pic>
        <p:nvPicPr>
          <p:cNvPr id="46" name="Picture 45" descr="02_zabbix_h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873752"/>
            <a:ext cx="3063240" cy="10058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77240" y="4983480"/>
            <a:ext cx="6080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1820"/>
                </a:solidFill>
                <a:latin typeface="Aptos"/>
              </a:rPr>
              <a:t>El inventario se puede defender desde Zabbix y desde Compose: cada host tiene servicio, puerto, agente y trigger asociado.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IMPLEMENTACIÓN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Todo se puede levantar de nuevo desde el repo.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783080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docker-compose.yml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911095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topología local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441448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60320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docker-compose.vps.yml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569464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publicación VPS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099815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18687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Dockerfile Zabbix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27832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imagen personalizada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758184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877056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provision_zabbix.py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886200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hosts, items y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4416552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35424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audit-project.sh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544568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validación reproducible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6128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orquesta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23560" y="3383279"/>
            <a:ext cx="82296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83680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7728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7456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7456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aprovisiona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04888" y="3383279"/>
            <a:ext cx="82296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065008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49056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58784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observa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86216" y="3383279"/>
            <a:ext cx="82296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546336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930384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40111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0111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notifica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67544" y="3383279"/>
            <a:ext cx="82295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577840" y="4663440"/>
            <a:ext cx="50292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77840" y="4663440"/>
            <a:ext cx="73152" cy="100584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4809744"/>
            <a:ext cx="46451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Punto fuerte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5093207"/>
            <a:ext cx="46451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Cada cosa que se muestra sale de un archivo, un contenedor, un item de Zabbix o una evidencia.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600200"/>
            <a:ext cx="7690104" cy="4370831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07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El dashboard muestra el pulso del sistema.</a:t>
            </a:r>
          </a:p>
        </p:txBody>
      </p:sp>
      <p:pic>
        <p:nvPicPr>
          <p:cNvPr id="6" name="Picture 5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27632"/>
            <a:ext cx="7635240" cy="43159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2520" y="1874519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19842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CPU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78824" y="22860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recursos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27889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78824" y="28986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32004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memoria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37033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78824" y="38130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DISCO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8824" y="41148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capacidad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46177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78824" y="47274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HTTP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78824" y="50292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servicios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07/17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572768"/>
            <a:ext cx="6958583" cy="4242816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Latest data separa sano de caído.</a:t>
            </a:r>
          </a:p>
        </p:txBody>
      </p:sp>
      <p:pic>
        <p:nvPicPr>
          <p:cNvPr id="6" name="Picture 5" descr="03_zabbix_latest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6903720" cy="41879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01000" y="17830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1000" y="1783080"/>
            <a:ext cx="73152" cy="98755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9293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Checks básicos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2128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agent.ping, CPU, memoria y disco para observar salud del host.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31546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3154680"/>
            <a:ext cx="73152" cy="9875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3009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Checks de servicio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844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HTTP, MySQL/MariaDB, DNS y FTP validan disponibilidad funcional.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5262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526280"/>
            <a:ext cx="73152" cy="987552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6725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Checks avanzados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560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/metrics, /api/db/status y web scenario público conectan Zabbix con la app real.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236207" y="1527048"/>
            <a:ext cx="5038344" cy="330098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CAÍDA CONTROLADA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caída controlada prueba el flujo completo.</a:t>
            </a:r>
          </a:p>
        </p:txBody>
      </p:sp>
      <p:pic>
        <p:nvPicPr>
          <p:cNvPr id="6" name="Picture 5" descr="06_zabbix_falla_web_ac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498348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" y="2331720"/>
            <a:ext cx="658368" cy="65836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stop web-service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71600" y="2660904"/>
            <a:ext cx="502919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11680" y="2331720"/>
            <a:ext cx="658368" cy="65836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31136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1952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trigger en Zabbix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0048" y="2660904"/>
            <a:ext cx="502920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10128" y="2331720"/>
            <a:ext cx="658368" cy="65836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correo MailHog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68496" y="2660904"/>
            <a:ext cx="502920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08576" y="2331720"/>
            <a:ext cx="658368" cy="658368"/>
          </a:xfrm>
          <a:prstGeom prst="round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8032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start + recovery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074920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A1820"/>
                </a:solidFill>
                <a:latin typeface="Aptos"/>
              </a:rPr>
              <a:t>El valor de esta prueba está en el flujo completo: no solo aparece el problema, también queda histórico y evidencia de recuperación.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453896"/>
            <a:ext cx="7918704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MailHog captura alertas.</a:t>
            </a:r>
          </a:p>
        </p:txBody>
      </p:sp>
      <p:pic>
        <p:nvPicPr>
          <p:cNvPr id="6" name="Picture 5" descr="07_mailhog_falla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7863840" cy="44439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91640"/>
            <a:ext cx="2423160" cy="1078992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15400" y="1691640"/>
            <a:ext cx="73152" cy="10789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837944"/>
            <a:ext cx="2039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Laboratorio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121408"/>
            <a:ext cx="2039112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FE8EE"/>
                </a:solidFill>
                <a:latin typeface="Aptos"/>
              </a:rPr>
              <a:t>Captura correos sin enviar spam a cuentas reales durante las pruebas.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3154680"/>
            <a:ext cx="2423160" cy="1078992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15400" y="3154680"/>
            <a:ext cx="73152" cy="10789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3300984"/>
            <a:ext cx="2039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Escalamiento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584448"/>
            <a:ext cx="2039112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FE8EE"/>
                </a:solidFill>
                <a:latin typeface="Aptos"/>
              </a:rPr>
              <a:t>Queda documentado un canal SMTP real del dominio para producción.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Artillery mete presión real a la demo.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2C5AA"/>
                </a:solidFill>
                <a:latin typeface="Aptos"/>
              </a:rPr>
              <a:t>artillery run tests/artillery-live-demo.yml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68880"/>
            <a:ext cx="960120" cy="2606039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requests smoke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4873752"/>
            <a:ext cx="960120" cy="20116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usuarios fallidos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3943350"/>
            <a:ext cx="960120" cy="113156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p95 aprox.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828800"/>
            <a:ext cx="4389120" cy="1371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37960" y="1828800"/>
            <a:ext cx="73152" cy="1371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975104"/>
            <a:ext cx="4005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Qué demuestra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258568"/>
            <a:ext cx="400507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La app no solo responde: guarda telemetría, registra incidentes y expone métricas para Zabbix.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749039"/>
            <a:ext cx="43891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37960" y="3749039"/>
            <a:ext cx="73152" cy="114300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895344"/>
            <a:ext cx="4005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Cómo se ve en vivo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178807"/>
            <a:ext cx="400507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Mientras corre Artillery suben requests, rutas golpeadas, cargas recientes y SLO en el portal.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/>
          <p:nvPr/>
        </p:nvSpPr>
        <p:spPr>
          <a:xfrm>
            <a:off x="7470648" y="1572768"/>
            <a:ext cx="3666744" cy="252374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cierre se defiende con métricas y auditoría.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/api/compliance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810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810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validaciones 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266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fallas auditoría</a:t>
            </a:r>
          </a:p>
        </p:txBody>
      </p:sp>
      <p:pic>
        <p:nvPicPr>
          <p:cNvPr id="15" name="Picture 14" descr="04_zabbix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600200"/>
            <a:ext cx="3611880" cy="246888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22960" y="373075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12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Dashboard en tiempo real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373075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712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Simulación de caída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23367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21538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Alertas en MailHog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40" y="423367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421538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Métricas históricas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3659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7183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Carga Artillery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73659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7183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Informe IEEE + repo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ENTREGABLES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Queda repo, informe, deck y demo pública.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" cy="96012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2082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Informe IEEE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0428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entrega-final/Informe_IEEE_Proyecto7_Zabbix.pdf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59" y="187451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59" y="1874519"/>
            <a:ext cx="73152" cy="9601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59" y="202082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Diapositivas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30428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entrega-final/Presentacion_Proyecto7_Zabbix.pptx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9183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291839"/>
            <a:ext cx="73152" cy="9601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43814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Repositorio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2160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github.com/ballesterossmartsolutionssas/Proyecto7-Zabbix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59" y="329183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52159" y="3291839"/>
            <a:ext cx="73152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59" y="343814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372160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entrega-final/evidencias + auditoría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9784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1820"/>
                </a:solidFill>
                <a:latin typeface="Aptos"/>
              </a:rPr>
              <a:t>Reparto: Luis Felipe abre, Juan Sebastián explica arquitectura, Daniela muestra Zabbix y Juan Camilo cierra con pruebas en vivo.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/>
          <p:nvPr/>
        </p:nvSpPr>
        <p:spPr>
          <a:xfrm>
            <a:off x="7744968" y="4041648"/>
            <a:ext cx="3392424" cy="151790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DEMO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La demo debe cerrar viendo tráfico, caída y alerta.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38912" cy="438912"/>
          </a:xfrm>
          <a:prstGeom prst="round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11095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Abrir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938527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https://web-zabbix.negociocontigo.com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438912" cy="43891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85292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7977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Generar carga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07208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artillery run tests/artillery-live-demo.yml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11879"/>
            <a:ext cx="438912" cy="43891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21607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64845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Simular caída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675887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docker compose -f docker-compose.vps.yml stop web-service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80559"/>
            <a:ext cx="438912" cy="438912"/>
          </a:xfrm>
          <a:prstGeom prst="round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9028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51713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Validar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4544568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bash scripts/audit-project.sh</a:t>
            </a:r>
          </a:p>
        </p:txBody>
      </p:sp>
      <p:pic>
        <p:nvPicPr>
          <p:cNvPr id="22" name="Picture 21" descr="05_mailhog_aler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069080"/>
            <a:ext cx="333756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571500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Cierre: Zabbix detecta, MailHog muestra, Artillery presiona y la auditoría confirma.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ALTERNATIVAS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Zabbix se eligió por equilibrio entre control, alertas y despliegue local.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572768"/>
            <a:ext cx="2148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19072"/>
            <a:ext cx="175564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Nagios 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0672" y="1572768"/>
            <a:ext cx="3566160" cy="65836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73552" y="1700784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Checks maduros y muchos plugins.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572768"/>
            <a:ext cx="4160520" cy="658368"/>
          </a:xfrm>
          <a:prstGeom prst="roundRect">
            <a:avLst/>
          </a:prstGeom>
          <a:solidFill>
            <a:srgbClr val="FAF7F4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1700784"/>
            <a:ext cx="3703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UI y dashboards limitados; menor automatización moderna.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532888"/>
            <a:ext cx="2148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679192"/>
            <a:ext cx="175564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Prometheus + Grafana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90672" y="2532888"/>
            <a:ext cx="3566160" cy="65836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3552" y="2660904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Métricas modernas y visualización fuerte.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532888"/>
            <a:ext cx="4160520" cy="658368"/>
          </a:xfrm>
          <a:prstGeom prst="roundRect">
            <a:avLst/>
          </a:prstGeom>
          <a:solidFill>
            <a:srgbClr val="FAF7F4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2660904"/>
            <a:ext cx="3703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Requiere Alertmanager, exporters y más integración.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493008"/>
            <a:ext cx="2148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639312"/>
            <a:ext cx="175564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F4444"/>
                </a:solidFill>
                <a:latin typeface="Aptos"/>
              </a:rPr>
              <a:t>Datadog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90672" y="3493008"/>
            <a:ext cx="3566160" cy="65836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73552" y="3621024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Suite SaaS completa con APM y logs.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3493008"/>
            <a:ext cx="4160520" cy="658368"/>
          </a:xfrm>
          <a:prstGeom prst="roundRect">
            <a:avLst/>
          </a:prstGeom>
          <a:solidFill>
            <a:srgbClr val="FAF7F4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3621024"/>
            <a:ext cx="3703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Costo, dependencia externa y datos fuera del laboratorio.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4453128"/>
            <a:ext cx="2148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4599432"/>
            <a:ext cx="175564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Zabbix 6.x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90672" y="4453128"/>
            <a:ext cx="3566160" cy="65836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73552" y="4581144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Agentes, API, triggers, dashboards, histórico y correo integrados.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453128"/>
            <a:ext cx="4160520" cy="658368"/>
          </a:xfrm>
          <a:prstGeom prst="roundRect">
            <a:avLst/>
          </a:prstGeom>
          <a:solidFill>
            <a:srgbClr val="FAF7F4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4581144"/>
            <a:ext cx="3703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Más configuración inicial, pero reproducible con scripts.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513832"/>
            <a:ext cx="102870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5513832"/>
            <a:ext cx="73152" cy="71323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660136"/>
            <a:ext cx="9902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Decisión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943600"/>
            <a:ext cx="9902952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Zabbix permite cumplir el enunciado sin SaaS pago: monitoreo de hosts, servicios, triggers, dashboards, histórico, alertas y API en Docker Compose.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DISCUSIÓN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prueba importante no es instalar Zabbix; es cerrar el ciclo operativo.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324612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37360"/>
            <a:ext cx="73152" cy="1298448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83664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Qué probamos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67128"/>
            <a:ext cx="2862072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Carga real con Artillery, caída controlada, detección en Zabbix, correo MailHog, recuperación y métricas históricas.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324612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737360"/>
            <a:ext cx="73152" cy="12984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883664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Qué aprendimos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67128"/>
            <a:ext cx="2862072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Monitorear no es solo saber si un contenedor vive: también hay que medir servicio, backend, DB, SLO y rutas bajo presión.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737360"/>
            <a:ext cx="324612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737360"/>
            <a:ext cx="73152" cy="12984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883664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Limitación honesta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167128"/>
            <a:ext cx="2862072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El SLO del portal es de laboratorio y vive en memoria del proceso; Zabbix conserva el histórico real de eventos e items.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22191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6975"/>
                </a:solidFill>
                <a:latin typeface="Aptos"/>
              </a:rPr>
              <a:t>Conclusión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24528"/>
            <a:ext cx="98755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1820"/>
                </a:solidFill>
                <a:latin typeface="Aptos"/>
              </a:rPr>
              <a:t>El proyecto cumple los requisitos base y los amplía con una aplicación real observable: frontend, backend, MariaDB, /metrics, SLO, analíticas, Artillery y matriz 13/13.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Las decisiones se apoyan en documentación oficial y herramientas reproducibles.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19656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2C5AA"/>
                </a:solidFill>
                <a:latin typeface="Aptos"/>
              </a:rPr>
              <a:t>Zabbix Documentation 6.0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zabbix.com/documentation/6.0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691640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19656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8BDF8"/>
                </a:solidFill>
                <a:latin typeface="Aptos"/>
              </a:rPr>
              <a:t>Docker Compose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84832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docs.docker.com/compose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70632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59E0B"/>
                </a:solidFill>
                <a:latin typeface="Aptos"/>
              </a:rPr>
              <a:t>MailHog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63824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github.com/mailhog/MailHog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770632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898648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A3E635"/>
                </a:solidFill>
                <a:latin typeface="Aptos"/>
              </a:rPr>
              <a:t>Artillery Docs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163824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artillery.io/docs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849624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977639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8BDF8"/>
                </a:solidFill>
                <a:latin typeface="Aptos"/>
              </a:rPr>
              <a:t>PostgreSQL / MariaDB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242816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postgresql.org/docs + mariadb.org/documentation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849624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3977639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2C5AA"/>
                </a:solidFill>
                <a:latin typeface="Aptos"/>
              </a:rPr>
              <a:t>Caddy Automatic HTTPS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242816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caddyserver.com/docs/automatic-https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32180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Entregables: informe IEEE, presentación, repositorio GitHub, README, scripts de aprovisionamiento, Docker Compose, evidencias y demo pública HTTPS.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