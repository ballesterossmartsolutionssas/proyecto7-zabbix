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1" r:id="rId22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72" r:id="rId23"/>
    <p:sldId id="269" r:id="rId20"/>
    <p:sldId id="270" r:id="rId21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6693407" y="667512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7543800" y="0"/>
            <a:ext cx="4645152" cy="6858000"/>
          </a:xfrm>
          <a:prstGeom prst="rect">
            <a:avLst/>
          </a:prstGeom>
          <a:solidFill>
            <a:srgbClr val="0F2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694944"/>
            <a:ext cx="498348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5836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2C5AA"/>
                </a:solidFill>
                <a:latin typeface="Aptos"/>
              </a:rPr>
              <a:t>PROYECTO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24712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 Display"/>
              </a:rPr>
              <a:t>Monitoreo de infraestructura
con Zabbix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6148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DDCE4"/>
                </a:solidFill>
                <a:latin typeface="Aptos"/>
              </a:rPr>
              <a:t>Zabbix 6.x monitoreando servicios Docker, alertas, backend real, métricas, SLO y pruebas de carga en vivo.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hosts monitoreados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6584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6584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páginas IEEE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8496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requests smoke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04104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8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8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fallas auditoría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DE8EE"/>
                </a:solidFill>
                <a:latin typeface="Aptos"/>
              </a:rPr>
              <a:t>Juan Camilo Ballesteros Sierra
Luis Felipe Murillo Matallana
Juan Sebastián Delgado
Daniela Castro Quiñones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01/18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riesgo real es enterarse tarde de una caída.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9164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6975"/>
                </a:solidFill>
                <a:latin typeface="Aptos"/>
              </a:rPr>
              <a:t>La infraestructura evaluada mezcla web, base de datos, DNS y FTP. Si un componente cae, el usuario percibe degradación antes de que el equipo tenga una causa clara.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Falla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servicio cae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3904488"/>
            <a:ext cx="1298448" cy="0"/>
          </a:xfrm>
          <a:prstGeom prst="line">
            <a:avLst/>
          </a:prstGeom>
          <a:ln w="2794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5000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Usuario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reporta tarde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03320" y="3904488"/>
            <a:ext cx="1298448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3892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7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Operación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revisa manual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3904488"/>
            <a:ext cx="1298448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2784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4399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Histórico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 existe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1159" y="3904488"/>
            <a:ext cx="1298448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0" y="160020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1600200"/>
            <a:ext cx="73152" cy="12344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174650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Riesgo operativo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029967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No basta saber que el servidor está encendido; se debe medir servicio, recursos, alertas e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16052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0" y="4160520"/>
            <a:ext cx="73152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430682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Criterio de evaluación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590288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rúbrica pide diseño, proceso de validación y construcción funcional. Por eso la demo debe probar el flujo completo.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Montamos algo que se puede medir, presionar y recuperar.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18288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Mínimo del enunciado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Zabbix Server, base de datos, frontend, MailHog, cuatro hosts, agentes, templates, triggers y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73152" cy="1828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Valor agregado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Portal HTTPS con backend Node.js, MariaDB, gráficas, SLO, exporter /metrics, Artillery y auditoría reproducible.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828800"/>
            <a:ext cx="73152" cy="182880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Evidencia defendible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Repositorio, README, informe IEEE de 7 páginas, PPTX, capturas, scripts y matriz /api/compliance.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Tesis de la sustentación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102352"/>
            <a:ext cx="9326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A1820"/>
                </a:solidFill>
                <a:latin typeface="Aptos"/>
              </a:rPr>
              <a:t>La gracia del proyecto está en mostrar operación: salud, carga, incidentes, alertas y recuperación.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04/18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Arquitectura lógica del monitoreo.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1143000" cy="658368"/>
          </a:xfrm>
          <a:prstGeom prst="round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44144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Profesor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88336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demo + revisión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2898647"/>
            <a:ext cx="86868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1600200"/>
            <a:ext cx="132588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41448" y="1709928"/>
            <a:ext cx="1106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Portal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1956816"/>
            <a:ext cx="1106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frontend + API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468879" y="2167127"/>
            <a:ext cx="1051561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331720" y="2578608"/>
            <a:ext cx="132588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2688336"/>
            <a:ext cx="1106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Web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1448" y="2935224"/>
            <a:ext cx="1106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dashboard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79" y="3145536"/>
            <a:ext cx="1051561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331720" y="3557016"/>
            <a:ext cx="132588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41448" y="3666744"/>
            <a:ext cx="11064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3913632"/>
            <a:ext cx="11064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inbox alertas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68879" y="4123944"/>
            <a:ext cx="1051561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06240" y="1600200"/>
            <a:ext cx="141732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15968" y="170992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API REST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5968" y="195681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/health + /metrics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343400" y="2167127"/>
            <a:ext cx="1142999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206240" y="2578608"/>
            <a:ext cx="141732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2688336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Server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293522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items + triggers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343400" y="3145536"/>
            <a:ext cx="1142999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206240" y="3557016"/>
            <a:ext cx="141732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15968" y="3666744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 SMTP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15968" y="3913632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correo lab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343400" y="4123944"/>
            <a:ext cx="114299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172200" y="1600200"/>
            <a:ext cx="141732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170992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MariaDB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1928" y="195681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telemetría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309360" y="2167127"/>
            <a:ext cx="114300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172200" y="2578608"/>
            <a:ext cx="141732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81928" y="2688336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PostgreSQL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81928" y="2935224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histórico Zabbix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309360" y="3145536"/>
            <a:ext cx="114300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172200" y="3557016"/>
            <a:ext cx="141732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81928" y="3666744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4 agentes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1928" y="3913632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web/db/dns/ftp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309360" y="4123944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8321040" y="1920240"/>
            <a:ext cx="1143000" cy="5852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30767" y="202996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web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30767" y="2276856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 + API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458200" y="2414016"/>
            <a:ext cx="86868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9875519" y="1920240"/>
            <a:ext cx="1143000" cy="5852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985247" y="2029968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85247" y="2276856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MariaDB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012680" y="2414016"/>
            <a:ext cx="868679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8321040" y="3035808"/>
            <a:ext cx="1143000" cy="5852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30767" y="3145536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30767" y="3392424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CoreDNS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458200" y="3529584"/>
            <a:ext cx="86868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9875519" y="3035808"/>
            <a:ext cx="1143000" cy="58521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85247" y="3145536"/>
            <a:ext cx="92354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FTP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85247" y="3392424"/>
            <a:ext cx="9235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VSFTPD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0012680" y="3529584"/>
            <a:ext cx="86867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874519" y="1929384"/>
            <a:ext cx="457201" cy="731520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874519" y="2660904"/>
            <a:ext cx="457201" cy="246888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874519" y="2660904"/>
            <a:ext cx="457201" cy="1225296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3657600" y="1929384"/>
            <a:ext cx="548640" cy="0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657600" y="2907792"/>
            <a:ext cx="548640" cy="0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657600" y="3886200"/>
            <a:ext cx="548640" cy="0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623560" y="1929384"/>
            <a:ext cx="548640" cy="0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5623560" y="2907792"/>
            <a:ext cx="548640" cy="0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5623560" y="3886200"/>
            <a:ext cx="548640" cy="0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7589520" y="2212848"/>
            <a:ext cx="731520" cy="1673352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7589520" y="3328416"/>
            <a:ext cx="731520" cy="557784"/>
          </a:xfrm>
          <a:prstGeom prst="line">
            <a:avLst/>
          </a:prstGeom>
          <a:ln w="17145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777240" y="5138928"/>
            <a:ext cx="9921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0A1820"/>
                </a:solidFill>
                <a:latin typeface="Aptos"/>
              </a:rPr>
              <a:t>Flujo lógico: usuarios ven demo, Zabbix registra estado, agentes observan servicios y MailHog evidencia alertas.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05/18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DESPLIEGUE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VPS publica solo tres entradas HTTPS.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233172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00200"/>
            <a:ext cx="73152" cy="105156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46504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Internet + DNS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29967"/>
            <a:ext cx="1947672" cy="539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Tres subdominios apuntan al dominio negociocontigo.com.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233172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880360"/>
            <a:ext cx="73152" cy="105156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026664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Hostinger VPS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310128"/>
            <a:ext cx="1947672" cy="539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Ubuntu 24.04 en 187.124.228.23 ejecuta /root/proyecto7-zabbix.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60520"/>
            <a:ext cx="2331720" cy="10515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160520"/>
            <a:ext cx="73152" cy="105156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306824"/>
            <a:ext cx="1947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Caddy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4590288"/>
            <a:ext cx="1947672" cy="5394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Reverse proxy, HTTPS automático y entrada controlada.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0" y="1444752"/>
            <a:ext cx="7040880" cy="4297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166420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0A1820"/>
                </a:solidFill>
                <a:latin typeface="Aptos"/>
              </a:rPr>
              <a:t>docker-compose.vps.yml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168249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1">
                <a:solidFill>
                  <a:srgbClr val="5C6975"/>
                </a:solidFill>
                <a:latin typeface="Aptos"/>
              </a:rPr>
              <a:t>Red interna: proyecto7-monitoring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77639" y="2240280"/>
            <a:ext cx="123444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87368" y="2350008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zabbix-web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7368" y="2596896"/>
            <a:ext cx="1014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solo por Caddy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0" y="2743200"/>
            <a:ext cx="960119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532120" y="2240280"/>
            <a:ext cx="123444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41848" y="2350008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web-service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2596896"/>
            <a:ext cx="1014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portal demo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669280" y="2743200"/>
            <a:ext cx="96012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086600" y="2240280"/>
            <a:ext cx="123444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96328" y="2350008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mailhog-gate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2596896"/>
            <a:ext cx="1014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login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223760" y="2743200"/>
            <a:ext cx="96011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641080" y="2240280"/>
            <a:ext cx="123444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50807" y="2350008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50807" y="2596896"/>
            <a:ext cx="1014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SMTP + inbox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778240" y="2743200"/>
            <a:ext cx="96011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977639" y="3364992"/>
            <a:ext cx="123444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87368" y="3474720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srv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87368" y="3721608"/>
            <a:ext cx="1014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privado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114800" y="3867912"/>
            <a:ext cx="960119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5532120" y="3364992"/>
            <a:ext cx="123444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41848" y="3474720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postgres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41848" y="3721608"/>
            <a:ext cx="1014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BD Zabbix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669280" y="3867912"/>
            <a:ext cx="96012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7086600" y="3364992"/>
            <a:ext cx="123444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196328" y="3474720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db-service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96328" y="3721608"/>
            <a:ext cx="1014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MariaDB demo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223760" y="3867912"/>
            <a:ext cx="960119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8641080" y="3364992"/>
            <a:ext cx="123444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50807" y="3474720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dns + ftp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50807" y="3721608"/>
            <a:ext cx="1014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servicios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778240" y="3867912"/>
            <a:ext cx="960119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5532120" y="4480560"/>
            <a:ext cx="1234440" cy="5943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41848" y="4590288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4 agentes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41848" y="4837176"/>
            <a:ext cx="101498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monitoreo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669280" y="4983480"/>
            <a:ext cx="96012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063240" y="4681728"/>
            <a:ext cx="59436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5212080" y="3657600"/>
            <a:ext cx="320040" cy="0"/>
          </a:xfrm>
          <a:prstGeom prst="line">
            <a:avLst/>
          </a:prstGeom>
          <a:ln w="1524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5212080" y="3657600"/>
            <a:ext cx="320040" cy="1124712"/>
          </a:xfrm>
          <a:prstGeom prst="line">
            <a:avLst/>
          </a:prstGeom>
          <a:ln w="1524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766560" y="3657600"/>
            <a:ext cx="320040" cy="1124712"/>
          </a:xfrm>
          <a:prstGeom prst="line">
            <a:avLst/>
          </a:prstGeom>
          <a:ln w="1524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8321040" y="2542032"/>
            <a:ext cx="320040" cy="0"/>
          </a:xfrm>
          <a:prstGeom prst="line">
            <a:avLst/>
          </a:prstGeom>
          <a:ln w="1524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3858768" y="5358384"/>
            <a:ext cx="6355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0A1820"/>
                </a:solidFill>
                <a:latin typeface="Aptos"/>
              </a:rPr>
              <a:t>Mensaje clave: los servicios internos no quedan abiertos a Internet; Caddy publica HTTPS y Docker Compose aísla la red.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06/18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Rectangle 46"/>
          <p:cNvSpPr/>
          <p:nvPr/>
        </p:nvSpPr>
        <p:spPr>
          <a:xfrm>
            <a:off x="7836408" y="4846320"/>
            <a:ext cx="3118104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INVENTARIO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inventario cubre web, base de datos, DNS y FTP.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7248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Servicio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85232" y="1828800"/>
            <a:ext cx="26060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1947672"/>
            <a:ext cx="23865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205740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947672"/>
            <a:ext cx="183794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Agente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2C5AA"/>
                </a:solidFill>
                <a:latin typeface="Aptos"/>
              </a:rPr>
              <a:t>web-host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27248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Portal Node.js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5232" y="2395728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2560320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HTTP puerto 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2395728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2560320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web-agent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ptos"/>
              </a:rPr>
              <a:t>db-host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27248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MariaDB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85232" y="3054096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3218688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3306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3054096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3218688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db-agent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3E635"/>
                </a:solidFill>
                <a:latin typeface="Aptos"/>
              </a:rPr>
              <a:t>dns-host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27248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CoreDNS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5232" y="3712464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3877056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53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3712464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5048" y="3877056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dns-agent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59E0B"/>
                </a:solidFill>
                <a:latin typeface="Aptos"/>
              </a:rPr>
              <a:t>ftp-host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7248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VSFTPD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2" y="4370832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0" y="4535424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 puerto 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4370832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85048" y="4535424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ftp-agent</a:t>
            </a:r>
          </a:p>
        </p:txBody>
      </p:sp>
      <p:pic>
        <p:nvPicPr>
          <p:cNvPr id="46" name="Picture 45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873752"/>
            <a:ext cx="3063240" cy="10058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77240" y="4983480"/>
            <a:ext cx="6080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El inventario se puede defender desde Zabbix y desde Compose: cada host tiene servicio, puerto, agente y trigger asociado.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07/18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Todo se puede levantar de nuevo desde el repo.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783080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911095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topología local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441448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docker-compose.vps.yml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569464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publicación VPS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099815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18687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Dockerfile Zabbix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27832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imagen personalizada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758184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87705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provision_zabbix.py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886200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hosts, items y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4416552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354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audit-project.sh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544568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validación reproducible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6128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orquesta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23560" y="3383279"/>
            <a:ext cx="82296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83680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7728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7456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7456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aprovisiona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04888" y="3383279"/>
            <a:ext cx="82296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065008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49056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8784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observa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86216" y="3383279"/>
            <a:ext cx="82296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546336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930384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40111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1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notifica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67544" y="3383279"/>
            <a:ext cx="82295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577840" y="4663440"/>
            <a:ext cx="50292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77840" y="4663440"/>
            <a:ext cx="73152" cy="10058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4809744"/>
            <a:ext cx="46451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Punto fuerte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5093207"/>
            <a:ext cx="46451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Cada cosa que se muestra sale de un archivo, un contenedor, un item de Zabbix o una evidencia.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08/18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600200"/>
            <a:ext cx="7690104" cy="4370831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El dashboard muestra el pulso del sistema.</a:t>
            </a:r>
          </a:p>
        </p:txBody>
      </p:sp>
      <p:pic>
        <p:nvPicPr>
          <p:cNvPr id="6" name="Picture 5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27632"/>
            <a:ext cx="7635240" cy="4315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2520" y="1874519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19842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22860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recursos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27889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78824" y="28986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32004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memoria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37033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8824" y="38130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DISCO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41148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capacidad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46177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78824" y="47274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HTTP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78824" y="50292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servicios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09/18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572768"/>
            <a:ext cx="6958583" cy="4242816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Latest data separa sano de caído.</a:t>
            </a:r>
          </a:p>
        </p:txBody>
      </p:sp>
      <p:pic>
        <p:nvPicPr>
          <p:cNvPr id="6" name="Picture 5" descr="03_zabbix_latest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6903720" cy="41879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01000" y="17830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783080"/>
            <a:ext cx="73152" cy="98755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93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Checks básicos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128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agent.ping, CPU, memoria y disco para observar salud del host.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1546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3154680"/>
            <a:ext cx="73152" cy="987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3009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Checks de servicio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844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HTTP, MySQL/MariaDB, DNS y FTP validan disponibilidad funcional.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5262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526280"/>
            <a:ext cx="73152" cy="987552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6725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Checks avanzados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560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/metrics, /api/db/status y web scenario público conectan Zabbix con la app real.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10/18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236207" y="1527048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CAÍDA CONTROLADA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caída controlada prueba el flujo completo.</a:t>
            </a:r>
          </a:p>
        </p:txBody>
      </p:sp>
      <p:pic>
        <p:nvPicPr>
          <p:cNvPr id="6" name="Picture 5" descr="06_zabbix_falla_web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498348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" y="2331720"/>
            <a:ext cx="658368" cy="65836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stop web-service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71600" y="2660904"/>
            <a:ext cx="502919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11680" y="2331720"/>
            <a:ext cx="658368" cy="65836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31136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trigger en Zabbix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0048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10128" y="2331720"/>
            <a:ext cx="658368" cy="65836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correo MailHog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68496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08576" y="2331720"/>
            <a:ext cx="658368" cy="658368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8032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start + 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074920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1820"/>
                </a:solidFill>
                <a:latin typeface="Aptos"/>
              </a:rPr>
              <a:t>El valor de esta prueba está en el flujo completo: no solo aparece el problema, también queda histórico y evidencia de recuperación.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11/18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453896"/>
            <a:ext cx="7918704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MailHog captura alertas.</a:t>
            </a:r>
          </a:p>
        </p:txBody>
      </p:sp>
      <p:pic>
        <p:nvPicPr>
          <p:cNvPr id="6" name="Picture 5" descr="07_mailhog_falla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7863840" cy="44439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9164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91640"/>
            <a:ext cx="73152" cy="10789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83794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Laboratorio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12140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Captura correos sin enviar spam a cuentas reales durante las pruebas.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315468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15400" y="3154680"/>
            <a:ext cx="73152" cy="10789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30098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Escalamiento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58444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Queda documentado un canal SMTP real del dominio para producción.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12/18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Artillery mete presión real a la demo.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2C5AA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68880"/>
            <a:ext cx="960120" cy="2606039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requests smoke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4873752"/>
            <a:ext cx="960120" cy="20116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usuarios fallidos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943350"/>
            <a:ext cx="960120" cy="113156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p95 aprox.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828800"/>
            <a:ext cx="4389120" cy="1371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1828800"/>
            <a:ext cx="73152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97510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demuestra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258568"/>
            <a:ext cx="40050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app no solo responde: guarda telemetría, registra incidentes y expone métricas para Zabbix.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749039"/>
            <a:ext cx="43891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3749039"/>
            <a:ext cx="73152" cy="11430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89534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Cómo se ve en vivo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178807"/>
            <a:ext cx="400507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Mientras corre Artillery suben requests, rutas golpeadas, cargas recientes y SLO en el portal.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13/18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>
          <a:xfrm>
            <a:off x="7470648" y="1572768"/>
            <a:ext cx="3666744" cy="252374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cierre se defiende con métricas y auditoría.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/api/compliance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810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validaciones 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266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fallas auditoría</a:t>
            </a:r>
          </a:p>
        </p:txBody>
      </p:sp>
      <p:pic>
        <p:nvPicPr>
          <p:cNvPr id="15" name="Picture 14" descr="04_zabbix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600200"/>
            <a:ext cx="3611880" cy="24688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296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Dashboard en tiempo real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Simulación de caída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Alertas en MailHog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Métricas históricas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Carga Artillery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Informe IEEE + repo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14/18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ENTREGABLES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Queda repo, informe, deck y demo pública.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" cy="96012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Informe IEEE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entrega-final/Informe_IEEE_Proyecto7_Zabbix.pdf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59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59" y="1874519"/>
            <a:ext cx="73152" cy="960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Diapositivas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entrega-final/Presentacion_Proyecto7_Zabbix.pptx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291839"/>
            <a:ext cx="73152" cy="9601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Repositorio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github.com/ballesterossmartsolutionssas/Proyecto7-Zabbix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59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2159" y="3291839"/>
            <a:ext cx="73152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59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entrega-final/evidencias + auditoría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9784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Reparto: Luis Felipe abre, Juan Sebastián explica arquitectura, Daniela muestra Zabbix y Juan Camilo cierra con pruebas en vivo.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16/18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/>
          <p:nvPr/>
        </p:nvSpPr>
        <p:spPr>
          <a:xfrm>
            <a:off x="7744968" y="4041648"/>
            <a:ext cx="3392424" cy="15179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 demo debe cerrar viendo tráfico, caída y alerta.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8912" cy="438912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11095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Abrir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3852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https://web-zabbix.negociocontigo.com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438912" cy="43891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85292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7977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Generar carga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0720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79"/>
            <a:ext cx="438912" cy="43891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21607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4845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Simular caída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67588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docker compose -f docker-compose.vps.yml stop web-service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0559"/>
            <a:ext cx="438912" cy="438912"/>
          </a:xfrm>
          <a:prstGeom prst="round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9028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51713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Validar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454456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bash scripts/audit-project.sh</a:t>
            </a:r>
          </a:p>
        </p:txBody>
      </p:sp>
      <p:pic>
        <p:nvPicPr>
          <p:cNvPr id="22" name="Picture 21" descr="05_mailhog_aler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069080"/>
            <a:ext cx="333756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571500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Cierre: Zabbix detecta, MailHog muestra, Artillery presiona y la auditoría confirma.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17/18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Zabbix ganó la matriz ponderada.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7680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5C6975"/>
                </a:solidFill>
                <a:latin typeface="Aptos"/>
              </a:rPr>
              <a:t>Escala 1-5. Se priorizó despliegue local, Docker, alertas, API y ajuste académico.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719072"/>
            <a:ext cx="2331720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5" y="1819656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Criterio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3081527" y="1719072"/>
            <a:ext cx="658368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45535" y="1819656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Peso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39896" y="1719072"/>
            <a:ext cx="713232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03904" y="1819656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Nagios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53128" y="1719072"/>
            <a:ext cx="841248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19656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Prom.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94376" y="1719072"/>
            <a:ext cx="749808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8384" y="1819656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Datadog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44184" y="1719072"/>
            <a:ext cx="749808" cy="32918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08192" y="1819656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Aptos"/>
              </a:rPr>
              <a:t>Zabbix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2103120"/>
            <a:ext cx="233172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5" y="2203703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Costo y despliegue local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081527" y="2103120"/>
            <a:ext cx="6583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45535" y="2203703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39896" y="2103120"/>
            <a:ext cx="713232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03904" y="2203703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53128" y="2103120"/>
            <a:ext cx="84124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7136" y="2203703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4376" y="2103120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58384" y="220370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44184" y="2103120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08192" y="220370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9808" y="2468879"/>
            <a:ext cx="2331720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5" y="2569463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Docker Compose / reproducible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81527" y="2468879"/>
            <a:ext cx="65836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45535" y="2569463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39896" y="2468879"/>
            <a:ext cx="713232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803904" y="2569463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53128" y="2468879"/>
            <a:ext cx="84124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7136" y="2569463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94376" y="2468879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358384" y="256946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44184" y="2468879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08192" y="256946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2834639"/>
            <a:ext cx="233172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5" y="2935223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Dashboards + alertas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81527" y="2834639"/>
            <a:ext cx="6583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45535" y="2935223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39896" y="2834639"/>
            <a:ext cx="713232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803904" y="2935223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453128" y="2834639"/>
            <a:ext cx="84124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17136" y="2935223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94376" y="2834639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358384" y="293522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44184" y="2834639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08192" y="2935223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9808" y="3200400"/>
            <a:ext cx="2331720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3815" y="3300984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API / aprovisionamiento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081527" y="3200400"/>
            <a:ext cx="65836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45535" y="3300984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15%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739896" y="3200400"/>
            <a:ext cx="713232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803904" y="3300984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453128" y="3200400"/>
            <a:ext cx="84124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17136" y="3300984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294376" y="3200400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58384" y="330098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44184" y="3200400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08192" y="330098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49808" y="3566160"/>
            <a:ext cx="2331720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3815" y="3666744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Histórico y servicios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081527" y="3566160"/>
            <a:ext cx="65836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145535" y="3666744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15%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739896" y="3566160"/>
            <a:ext cx="713232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803904" y="3666744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453128" y="3566160"/>
            <a:ext cx="84124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17136" y="3666744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294376" y="3566160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358384" y="366674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44184" y="3566160"/>
            <a:ext cx="749808" cy="347472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108192" y="366674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4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49808" y="3931920"/>
            <a:ext cx="2331720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13815" y="4032504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Ajuste académico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081527" y="3931920"/>
            <a:ext cx="65836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145535" y="4032504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10%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3739896" y="3931920"/>
            <a:ext cx="713232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803904" y="4032504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453128" y="3931920"/>
            <a:ext cx="84124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17136" y="4032504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294376" y="3931920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358384" y="403250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0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44184" y="3931920"/>
            <a:ext cx="749808" cy="347472"/>
          </a:xfrm>
          <a:prstGeom prst="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08192" y="403250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49808" y="4297680"/>
            <a:ext cx="2331720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13815" y="4398264"/>
            <a:ext cx="2203703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40" b="1">
                <a:solidFill>
                  <a:srgbClr val="0A1820"/>
                </a:solidFill>
                <a:latin typeface="Aptos"/>
              </a:rPr>
              <a:t>Puntaje ponderado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081527" y="4297680"/>
            <a:ext cx="658368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145535" y="4398264"/>
            <a:ext cx="53035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0A1820"/>
                </a:solidFill>
                <a:latin typeface="Aptos"/>
              </a:rPr>
              <a:t>100%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739896" y="4297680"/>
            <a:ext cx="713232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803904" y="4398264"/>
            <a:ext cx="58521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0A1820"/>
                </a:solidFill>
                <a:latin typeface="Aptos"/>
              </a:rPr>
              <a:t>3.2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53128" y="4297680"/>
            <a:ext cx="841248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517136" y="4398264"/>
            <a:ext cx="7132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0A1820"/>
                </a:solidFill>
                <a:latin typeface="Aptos"/>
              </a:rPr>
              <a:t>4.0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5294376" y="4297680"/>
            <a:ext cx="749808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358384" y="439826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0A1820"/>
                </a:solidFill>
                <a:latin typeface="Aptos"/>
              </a:rPr>
              <a:t>3.4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044184" y="4297680"/>
            <a:ext cx="749808" cy="347472"/>
          </a:xfrm>
          <a:prstGeom prst="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08192" y="4398264"/>
            <a:ext cx="62179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>
                <a:solidFill>
                  <a:srgbClr val="22C5AA"/>
                </a:solidFill>
                <a:latin typeface="Aptos"/>
              </a:rPr>
              <a:t>4.8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7818120" y="1755648"/>
            <a:ext cx="333756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818120" y="1755648"/>
            <a:ext cx="73152" cy="98755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46720" y="1901952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Por qué Zabbix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0" y="2185415"/>
            <a:ext cx="29535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Integra agentes, frontend, histórico, triggers, correo, web scenarios y API sin SaaS pago.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818120" y="2999232"/>
            <a:ext cx="333756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7818120" y="2999232"/>
            <a:ext cx="73152" cy="987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046720" y="3145536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Por qué no Prometheus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046720" y="3429000"/>
            <a:ext cx="295351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Es fuerte en métricas, pero exige Alertmanager, Grafana y exporters extra para igualar la demo.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7818120" y="4242816"/>
            <a:ext cx="3337560" cy="106070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7818120" y="4242816"/>
            <a:ext cx="73152" cy="1060704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046720" y="4389120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Decisión final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672583"/>
            <a:ext cx="2953512" cy="548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Fue la opción más completa para Docker Compose, cuatro servicios, MailHog y aprovisionamiento reproducible.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03/18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DISCUSIÓN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prueba importante no es instalar Zabbix; es cerrar el ciclo operativo.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37360"/>
            <a:ext cx="73152" cy="1298448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Qué probamos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Carga real con Artillery, caída controlada, detección en Zabbix, correo MailHog, recuperación y métricas históricas.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737360"/>
            <a:ext cx="73152" cy="12984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aprendimos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Monitorear no es solo saber si un contenedor vive: también hay que medir servicio, backend, DB, SLO y rutas bajo presión.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737360"/>
            <a:ext cx="73152" cy="12984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Limitación honesta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El SLO del portal es de laboratorio y vive en memoria del proceso; Zabbix conserva el histórico real de eventos e items.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22191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Conclusión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24528"/>
            <a:ext cx="98755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1820"/>
                </a:solidFill>
                <a:latin typeface="Aptos"/>
              </a:rPr>
              <a:t>El proyecto cumple los requisitos base y los amplía con una aplicación real observable: frontend, backend, MariaDB, /metrics, SLO, analíticas, Artillery y matriz 13/13.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5C6975"/>
                </a:solidFill>
                <a:latin typeface="Aptos"/>
              </a:rPr>
              <a:t>15/18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Las decisiones se apoyan en documentación oficial y herramientas reproducibles.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1965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2C5AA"/>
                </a:solidFill>
                <a:latin typeface="Aptos"/>
              </a:rPr>
              <a:t>Zabbix Documentation 6.0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zabbix.com/documentation/6.0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691640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1965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ptos"/>
              </a:rPr>
              <a:t>Docker Compose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8483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docs.docker.com/compose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70632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59E0B"/>
                </a:solidFill>
                <a:latin typeface="Aptos"/>
              </a:rPr>
              <a:t>MailHog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6382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github.com/mailhog/MailHog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770632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89864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A3E635"/>
                </a:solidFill>
                <a:latin typeface="Aptos"/>
              </a:rPr>
              <a:t>Artillery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16382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artillery.io/docs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849624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977639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ptos"/>
              </a:rPr>
              <a:t>PostgreSQL / MariaDB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42816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postgresql.org/docs + mariadb.org/documentation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849624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977639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2C5AA"/>
                </a:solidFill>
                <a:latin typeface="Aptos"/>
              </a:rPr>
              <a:t>Caddy Automatic HTTPS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42816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caddyserver.com/docs/automatic-https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2180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Entregables: informe IEEE, presentación, repositorio GitHub, README, scripts de aprovisionamiento, Docker Compose, evidencias y demo pública HTTPS.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>
                <a:solidFill>
                  <a:srgbClr val="8E9FAA"/>
                </a:solidFill>
                <a:latin typeface="Aptos"/>
              </a:rPr>
              <a:t>18/18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